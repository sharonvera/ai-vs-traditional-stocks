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1" d="100"/>
          <a:sy n="51" d="100"/>
        </p:scale>
        <p:origin x="872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Return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D4-425D-8DC3-786EAF77BD5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1D4-425D-8DC3-786EAF77BD5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1D4-425D-8DC3-786EAF77BD5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1D4-425D-8DC3-786EAF77BD5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1D4-425D-8DC3-786EAF77BD5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1D4-425D-8DC3-786EAF77BD5A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1D4-425D-8DC3-786EAF77BD5A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1D4-425D-8DC3-786EAF77BD5A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1D4-425D-8DC3-786EAF77BD5A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1D4-425D-8DC3-786EAF77BD5A}"/>
              </c:ext>
            </c:extLst>
          </c:dPt>
          <c:dPt>
            <c:idx val="1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1D4-425D-8DC3-786EAF77BD5A}"/>
              </c:ext>
            </c:extLst>
          </c:dPt>
          <c:dPt>
            <c:idx val="1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01D4-425D-8DC3-786EAF77BD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NVDA</c:v>
                </c:pt>
                <c:pt idx="1">
                  <c:v>AMD</c:v>
                </c:pt>
                <c:pt idx="2">
                  <c:v>AVGO</c:v>
                </c:pt>
                <c:pt idx="3">
                  <c:v>GOOGL</c:v>
                </c:pt>
                <c:pt idx="4">
                  <c:v>META</c:v>
                </c:pt>
                <c:pt idx="5">
                  <c:v>MSFT</c:v>
                </c:pt>
                <c:pt idx="6">
                  <c:v>WMT</c:v>
                </c:pt>
                <c:pt idx="7">
                  <c:v>JPM</c:v>
                </c:pt>
                <c:pt idx="8">
                  <c:v>XOM</c:v>
                </c:pt>
                <c:pt idx="9">
                  <c:v>JNJ</c:v>
                </c:pt>
                <c:pt idx="10">
                  <c:v>KO</c:v>
                </c:pt>
                <c:pt idx="11">
                  <c:v>PG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</c:v>
                </c:pt>
                <c:pt idx="1">
                  <c:v>50.7</c:v>
                </c:pt>
                <c:pt idx="2">
                  <c:v>52</c:v>
                </c:pt>
                <c:pt idx="3">
                  <c:v>32.5</c:v>
                </c:pt>
                <c:pt idx="4">
                  <c:v>26.5</c:v>
                </c:pt>
                <c:pt idx="5">
                  <c:v>20.3</c:v>
                </c:pt>
                <c:pt idx="6">
                  <c:v>21.5</c:v>
                </c:pt>
                <c:pt idx="7">
                  <c:v>19.7</c:v>
                </c:pt>
                <c:pt idx="8">
                  <c:v>22.2</c:v>
                </c:pt>
                <c:pt idx="9">
                  <c:v>12.1</c:v>
                </c:pt>
                <c:pt idx="10">
                  <c:v>11.2</c:v>
                </c:pt>
                <c:pt idx="11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01D4-425D-8DC3-786EAF77BD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16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FINANCE  ·  FIN 4975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Stocks vs.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Stocks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33101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AI Boom Created Abnormal Market Performance?</a:t>
            </a:r>
          </a:p>
          <a:p>
            <a:pPr marL="0" indent="0" algn="l">
              <a:buNone/>
            </a:pPr>
            <a:r>
              <a:rPr lang="en-US" sz="17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Sharon Vera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· MSFT · AMD · META · GOOGL · AVGO  vs  KO · PG · WMT · JPM · XOM · JNJ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1879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Period: Jan 2020 – May 2026  ·  N=1,605 observations  ·  Benchmark: SPY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testing, and what do we expect to find?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840480" cy="356616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launch of large language models — specifically ChatGPT in November 2022 — created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abnormal returns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AI-related stocks relative to traditional defensive stocks?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those returns be explained by known risk factors, or do they represent genuine alpha?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8745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30368" y="1874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stocks generate abnormal returns vs. traditional stocks over the full sample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25420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0368" y="25420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outperformance is statistically significant (p &lt; 0.05)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32095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0368" y="3209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cannot be fully explained by market risk (positive alpha)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38770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0368" y="3877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ChatGPT launch (Nov 2022) triggered a measurable structural shift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portfolios, and analytical framework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97480" cy="352044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Portfolio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— NVIDIA Corp.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— Microsoft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24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— Advanced Micro Devices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0540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Meta Platforms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48386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 — Alphabet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9136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AVGO — Broadcom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97480" cy="352044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353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Portfolio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47288" y="176479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— Coca-Cola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21945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— Procter &amp; Gamble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47288" y="2624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 — Walmart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47288" y="30540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— JPMorgan Chase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47288" y="348386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— ExxonMobil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47288" y="39136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JNJ — Johnson &amp; Johnson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97480" cy="3520440"/>
          </a:xfrm>
          <a:prstGeom prst="rect">
            <a:avLst/>
          </a:prstGeom>
          <a:solidFill>
            <a:srgbClr val="F8F9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1353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176479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(yfinance)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21945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adjusted close prices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2624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May 2026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30540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portfolios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348386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1,605 daily observations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39136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&amp; Dummy regression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27648" y="43434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Post-ChatGPT break: Nov 2022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27648" y="47731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OLS via NumPy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sample summary statistics (Jan 2020 – May 2026, N=1,605 daily obs.)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13258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56486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(9.93× growth)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234440"/>
            <a:ext cx="1920240" cy="1325880"/>
          </a:xfrm>
          <a:prstGeom prst="rect">
            <a:avLst/>
          </a:prstGeom>
          <a:solidFill>
            <a:srgbClr val="2E3F8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1307592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2056486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Portfolio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(2.47× growth)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1920240" cy="1325880"/>
          </a:xfrm>
          <a:prstGeom prst="rect">
            <a:avLst/>
          </a:prstGeom>
          <a:solidFill>
            <a:srgbClr val="1C3A6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1307592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2056486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Benchmark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(2.52× growth)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11696" y="1234440"/>
            <a:ext cx="1920240" cy="1325880"/>
          </a:xfrm>
          <a:prstGeom prst="rect">
            <a:avLst/>
          </a:prstGeom>
          <a:solidFill>
            <a:srgbClr val="0D2A5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11696" y="1307592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1.431×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11696" y="2056486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Beta vs SPY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 β = 0.622)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1920240" cy="13258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798064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3546958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Annualized Return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 15.6% | SPY 16.6%)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42032" y="2724912"/>
            <a:ext cx="1920240" cy="1325880"/>
          </a:xfrm>
          <a:prstGeom prst="rect">
            <a:avLst/>
          </a:prstGeom>
          <a:solidFill>
            <a:srgbClr val="2E3F8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42032" y="2798064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42032" y="3546958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Sharpe Ratio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 0.92 | SPY 0.81)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6864" y="2724912"/>
            <a:ext cx="1920240" cy="13258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26864" y="2798064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34.4%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26864" y="3546958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Ann. Volatility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 17.1% | SPY 20.4%)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11696" y="2724912"/>
            <a:ext cx="1920240" cy="1325880"/>
          </a:xfrm>
          <a:prstGeom prst="rect">
            <a:avLst/>
          </a:prstGeom>
          <a:solidFill>
            <a:srgbClr val="2E3F8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11696" y="2798064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0.718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711696" y="3546958"/>
            <a:ext cx="1920240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R²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vs SPY)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delivered 9.93× growth vs 2.47× traditional (2.52× SPY). AI annualized return of 42% with a Sharpe ratio of 1.22 — superior risk-adjusted performance. However, AI volatility (34.4%) is 2.0× that of the traditional portfolio (17.1%).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 Returns: Growth of $1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reached 9.93× vs 2.47× traditional and 2.52× SPY (Jan 2020–May 2026)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pic>
        <p:nvPicPr>
          <p:cNvPr id="6" name="Image 0" descr="/home/claude/cumulative_retur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70432"/>
            <a:ext cx="8229600" cy="3630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818888"/>
            <a:ext cx="8229600" cy="2103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4828032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launched Nov 30, 2022 — visible inflection in AI portfolio. Pre-ChatGPT AI daily mean: 0.089% | Post-ChatGPT: 0.232% (2.6× increase in daily return).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Portfolio vs SPY Benchmark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dramatically outpaces the broad market — divergence accelerates post-2023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pic>
        <p:nvPicPr>
          <p:cNvPr id="6" name="Image 0" descr="/home/claude/ai_vs_sp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70432"/>
            <a:ext cx="822960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553712"/>
            <a:ext cx="3931920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4608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893% total return  |  β = 1.431  |  α = +7.2 bps/day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4553712"/>
            <a:ext cx="4023360" cy="502920"/>
          </a:xfrm>
          <a:prstGeom prst="rect">
            <a:avLst/>
          </a:prstGeom>
          <a:solidFill>
            <a:srgbClr val="EFF6FF"/>
          </a:solidFill>
          <a:ln w="1905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00600" y="46085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SPY: 152% total return  |  β = 1.00  |  Sharpe = 0.81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CAPM Regression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AI returns regressed on SPY — N=1,605 observations, R²=0.718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  AI_Portfolio Return  =  α  +  β · SPY Return  +  ε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 (Intercept / Alpha)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significant daily excess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 (Beta vs SPY)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moves 43% more than the 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(Goodness of Fit)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71.8% of AI returns explained by SPY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2020 – May 2026 (daily)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33088"/>
            <a:ext cx="3931920" cy="749808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4169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Alpha Is Statistically Real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4443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0.000725 per day  |  t = 2.52  |  p = 0.012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4133088"/>
            <a:ext cx="4023360" cy="749808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0600" y="4169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High Market Sensitivity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00600" y="4443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1.431  → 43% amplification of market moves up AND down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Post-ChatGPT Structural Break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November 2022 ChatGPT launch cause a measurable shift in AI returns?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520440"/>
          </a:xfrm>
          <a:prstGeom prst="rect">
            <a:avLst/>
          </a:prstGeom>
          <a:solidFill>
            <a:srgbClr val="F0F4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Specification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AI_Return  =  α  +  β₁ · Post_ChatGPT  +  ε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Post_ChatGPT = 1 if date ≥ Nov 30, 2022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= 0 otherwise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Pre-ChatGPT obs:   733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Post-ChatGPT obs: 872 days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β₁ &gt; 0 and significant → ChatGPT triggered a structural increase in AI performance.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520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8470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Pre-ChatGPT AI mean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22592" y="18470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0.089% /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3500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Post-ChatGPT AI mean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22592" y="23500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0.232% / 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852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Dummy Coefficient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22592" y="28529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+0.001433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355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22592" y="33558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8587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22592" y="38587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3616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22592" y="43616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(p &gt; 0.05)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7823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Dummy is positive (+0.0014) but p=0.187 — not statistically significant at the 5% level. Raw daily means show a 2.6× increase post-ChatGPT, consistent with sustained trend momentum rather than a single-event break.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Stock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returns for each stock (Jan 2020–May 2026)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07008"/>
          <a:ext cx="8229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17720"/>
            <a:ext cx="201168" cy="16459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" y="45902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stocks (NVDA, AMD, AVGO, GOOGL, META, MSFT)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4617720"/>
            <a:ext cx="201168" cy="16459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803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Portfolio stocks (WMT, JPM, XOM, JNJ, KO, PG)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Implications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38404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2435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is statistically real (p=0.012)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5179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stocks earn α=0.000725 per day — statistically significant. Over 1,605 observations this produces 42% annualized excess return vs. 16.6% for SPY.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38404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130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Superior risk-adjusted returns (Sharpe 1.22 vs 0.81)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240487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34.4% annualized volatility (2.0× traditional), the AI portfolio's Sharpe ratio of 1.22 dominates both traditional (0.92) and SPY (0.81).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clean ChatGPT structural break (p=0.187)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29184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coefficient is positive but insignificant. Post-ChatGPT daily mean (0.232%) is 2.6× pre-ChatGPT (0.089%), but driven by sustained momentum, not a discrete break.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04488"/>
            <a:ext cx="384048" cy="384048"/>
          </a:xfrm>
          <a:prstGeom prst="rect">
            <a:avLst/>
          </a:prstGeom>
          <a:solidFill>
            <a:srgbClr val="2E3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39044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implication: high-conviction, high-risk allocation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17880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of 1.431 amplifies market moves by 43%. Optimal allocation depends on risk tolerance; consider tactical sizing and hedging during high-volatility regimes.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727448"/>
            <a:ext cx="8321040" cy="292608"/>
          </a:xfrm>
          <a:prstGeom prst="rect">
            <a:avLst/>
          </a:prstGeom>
          <a:solidFill>
            <a:srgbClr val="2E3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7457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"Factor investing requires constant evaluation. Signals can strengthen or weaken as market structure evolves — but 9.93× growth in 6 years is hard to ignore."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1109</Words>
  <Application>Microsoft Office PowerPoint</Application>
  <PresentationFormat>On-screen Show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Stocks vs Traditional Stocks</dc:title>
  <dc:subject>PptxGenJS Presentation</dc:subject>
  <dc:creator>PptxGenJS</dc:creator>
  <cp:lastModifiedBy>Vera, Sharon I</cp:lastModifiedBy>
  <cp:revision>2</cp:revision>
  <dcterms:created xsi:type="dcterms:W3CDTF">2026-05-22T19:12:21Z</dcterms:created>
  <dcterms:modified xsi:type="dcterms:W3CDTF">2026-05-22T19:15:51Z</dcterms:modified>
</cp:coreProperties>
</file>